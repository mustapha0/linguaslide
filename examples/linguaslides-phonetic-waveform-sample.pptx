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5D8E5"/>
                </a:solidFill>
                <a:latin typeface="Aptos"/>
              </a:defRPr>
            </a:pPr>
            <a:r>
              <a:t>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3F7FC"/>
                </a:solidFill>
                <a:latin typeface="Aptos"/>
              </a:defRPr>
            </a:pPr>
            <a:r>
              <a:t>The Phonological System of Southern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10927080" cy="1371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A5B6C9"/>
                </a:solidFill>
                <a:latin typeface="Aptos"/>
              </a:defRPr>
            </a:pPr>
            <a:r>
              <a:t>LinguaSlides · Phonetic Waveform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55D8E5"/>
                </a:solidFill>
                <a:latin typeface="Aptos"/>
              </a:defRPr>
            </a:pPr>
            <a:r>
              <a:t>Phonetics  ·  Phonology  ·  Prosody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85616"/>
            <a:ext cx="41148" cy="10972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8700" y="3370500"/>
            <a:ext cx="41148" cy="93995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690417"/>
            <a:ext cx="41148" cy="30012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57300" y="3508356"/>
            <a:ext cx="41148" cy="66424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3684462"/>
            <a:ext cx="41148" cy="31203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85900" y="3709661"/>
            <a:ext cx="41148" cy="26163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0200" y="3770664"/>
            <a:ext cx="41148" cy="13963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701363"/>
            <a:ext cx="41148" cy="27823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3578246"/>
            <a:ext cx="41148" cy="52446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43100" y="3655113"/>
            <a:ext cx="41148" cy="37073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0" y="3408099"/>
            <a:ext cx="41148" cy="86476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71700" y="3721850"/>
            <a:ext cx="41148" cy="23725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3353466"/>
            <a:ext cx="41148" cy="97402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00300" y="3741596"/>
            <a:ext cx="41148" cy="19776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14600" y="3446657"/>
            <a:ext cx="41148" cy="78764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28900" y="3689704"/>
            <a:ext cx="41148" cy="30155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639577"/>
            <a:ext cx="41148" cy="40180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57500" y="3754562"/>
            <a:ext cx="41148" cy="17183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1800" y="3739087"/>
            <a:ext cx="41148" cy="2027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86100" y="3649387"/>
            <a:ext cx="41148" cy="3821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639762"/>
            <a:ext cx="41148" cy="40143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4700" y="3462491"/>
            <a:ext cx="41148" cy="75597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665091"/>
            <a:ext cx="41148" cy="35077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43300" y="3358676"/>
            <a:ext cx="41148" cy="96360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768282"/>
            <a:ext cx="41148" cy="14439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71900" y="3399265"/>
            <a:ext cx="41148" cy="88242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716137"/>
            <a:ext cx="41148" cy="2486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00500" y="3567268"/>
            <a:ext cx="41148" cy="54642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0" y="3727932"/>
            <a:ext cx="41148" cy="22509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29100" y="3777051"/>
            <a:ext cx="41148" cy="12685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3400" y="3714718"/>
            <a:ext cx="41148" cy="25152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57700" y="3646395"/>
            <a:ext cx="41148" cy="38816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3528200"/>
            <a:ext cx="41148" cy="62455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86300" y="3621630"/>
            <a:ext cx="41148" cy="43769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00600" y="3385544"/>
            <a:ext cx="41148" cy="90987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14900" y="3703502"/>
            <a:ext cx="41148" cy="27395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0" y="3370840"/>
            <a:ext cx="41148" cy="93927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43500" y="3760639"/>
            <a:ext cx="41148" cy="15968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57800" y="3499825"/>
            <a:ext cx="41148" cy="68130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72100" y="3723066"/>
            <a:ext cx="41148" cy="23482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0" y="3709826"/>
            <a:ext cx="41148" cy="26130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00700" y="3767783"/>
            <a:ext cx="41148" cy="14539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15000" y="3674795"/>
            <a:ext cx="41148" cy="33136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29300" y="3598601"/>
            <a:ext cx="41148" cy="48375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3596397"/>
            <a:ext cx="41148" cy="48816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57900" y="3431281"/>
            <a:ext cx="41148" cy="81839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3642392"/>
            <a:ext cx="41148" cy="39617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86500" y="3364115"/>
            <a:ext cx="41148" cy="95272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3752997"/>
            <a:ext cx="41148" cy="17496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15100" y="3443850"/>
            <a:ext cx="41148" cy="79325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29400" y="3740118"/>
            <a:ext cx="41148" cy="20072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43700" y="3636952"/>
            <a:ext cx="41148" cy="40705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58000" y="3767843"/>
            <a:ext cx="41148" cy="14527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972300" y="3722513"/>
            <a:ext cx="41148" cy="23593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86600" y="3666600"/>
            <a:ext cx="41148" cy="34775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00900" y="3592458"/>
            <a:ext cx="41148" cy="49604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0" y="3491179"/>
            <a:ext cx="41148" cy="69860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429500" y="3591679"/>
            <a:ext cx="41148" cy="49760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543800" y="3379611"/>
            <a:ext cx="41148" cy="92173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658100" y="3688629"/>
            <a:ext cx="41148" cy="30370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0" y="3404781"/>
            <a:ext cx="41148" cy="87139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86700" y="3776994"/>
            <a:ext cx="41148" cy="12697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01000" y="3565496"/>
            <a:ext cx="41148" cy="54996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15300" y="3753095"/>
            <a:ext cx="41148" cy="17476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29600" y="3785122"/>
            <a:ext cx="41148" cy="11071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343900" y="3725360"/>
            <a:ext cx="41148" cy="23023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58200" y="3610700"/>
            <a:ext cx="41148" cy="45955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72500" y="3559095"/>
            <a:ext cx="41148" cy="56276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686800" y="3557026"/>
            <a:ext cx="41148" cy="56690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801100" y="3415590"/>
            <a:ext cx="41148" cy="84977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915400" y="3624505"/>
            <a:ext cx="41148" cy="43194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29700" y="3386335"/>
            <a:ext cx="41148" cy="90828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0" y="3741666"/>
            <a:ext cx="41148" cy="19762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58300" y="3502389"/>
            <a:ext cx="41148" cy="67618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372600" y="3760460"/>
            <a:ext cx="41148" cy="16003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86900" y="3714562"/>
            <a:ext cx="41148" cy="25183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01200" y="3769000"/>
            <a:ext cx="41148" cy="14295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715500" y="3649742"/>
            <a:ext cx="41148" cy="38147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829800" y="3628072"/>
            <a:ext cx="41148" cy="42481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44100" y="3542459"/>
            <a:ext cx="41148" cy="59604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58400" y="3468229"/>
            <a:ext cx="41148" cy="74450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172700" y="3567623"/>
            <a:ext cx="41148" cy="54571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287000" y="3390132"/>
            <a:ext cx="41148" cy="90069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401300" y="3679140"/>
            <a:ext cx="41148" cy="32267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15600" y="3453712"/>
            <a:ext cx="41148" cy="77353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629900" y="3782307"/>
            <a:ext cx="41148" cy="11634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744200" y="3640950"/>
            <a:ext cx="41148" cy="39905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858500" y="3778038"/>
            <a:ext cx="41148" cy="12488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972800" y="3706072"/>
            <a:ext cx="41148" cy="26881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087100" y="3691060"/>
            <a:ext cx="41148" cy="29883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57150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A5B6C9"/>
                </a:solidFill>
                <a:latin typeface="Aptos"/>
              </a:defRPr>
            </a:pPr>
            <a:r>
              <a:t>Research presentation · Editable PowerPoint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5D8E5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3F7FC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10927080" cy="1371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A5B6C9"/>
                </a:solidFill>
                <a:latin typeface="Aptos"/>
              </a:defRPr>
            </a:pPr>
            <a:r>
              <a:t>LinguaSlides · Phonetic Waveform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700" b="1">
                <a:solidFill>
                  <a:srgbClr val="F3F7FC"/>
                </a:solidFill>
                <a:latin typeface="Aptos"/>
              </a:defRPr>
            </a:pPr>
            <a:r>
              <a:t>How are front vowels realized across selected Southern English speech contexts?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A5B6C9"/>
                </a:solidFill>
                <a:latin typeface="Aptos"/>
              </a:defRPr>
            </a:pPr>
            <a:r>
              <a:t>Working hypothesis: vowel quality and duration vary with phonetic environment, stress, and speaker.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5D8E5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3F7FC"/>
                </a:solidFill>
                <a:latin typeface="Aptos"/>
              </a:defRPr>
            </a:pPr>
            <a:r>
              <a:t>IPA vowel chart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10927080" cy="1371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A5B6C9"/>
                </a:solidFill>
                <a:latin typeface="Aptos"/>
              </a:defRPr>
            </a:pPr>
            <a:r>
              <a:t>LinguaSlides · Phonetic Waveform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01168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01168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1168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01168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7180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97180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97180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97180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97180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97180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3192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393192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3192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93192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93192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393192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92040"/>
            <a:ext cx="1325880" cy="64008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3F7FC"/>
                </a:solidFill>
                <a:latin typeface="Doulos SIL"/>
              </a:defRPr>
            </a:pPr>
            <a:r>
              <a:t>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864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A5B6C9"/>
                </a:solidFill>
                <a:latin typeface="Aptos"/>
              </a:defRPr>
            </a:pPr>
            <a:r>
              <a:t>Schematic symbol set — verify transcription and font coverage before teaching or publication.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5D8E5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3F7FC"/>
                </a:solidFill>
                <a:latin typeface="Aptos"/>
              </a:defRPr>
            </a:pPr>
            <a:r>
              <a:t>Minimal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10927080" cy="1371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A5B6C9"/>
                </a:solidFill>
                <a:latin typeface="Aptos"/>
              </a:defRPr>
            </a:pPr>
            <a:r>
              <a:t>LinguaSlides · Phonetic Waveform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4754880" cy="100584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323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3F7FC"/>
                </a:solidFill>
                <a:latin typeface="Aptos"/>
              </a:defRPr>
            </a:pPr>
            <a:r>
              <a:t>bit    /bɪt/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4754880" cy="100584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4323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3F7FC"/>
                </a:solidFill>
                <a:latin typeface="Aptos"/>
              </a:defRPr>
            </a:pPr>
            <a:r>
              <a:t>bet    /bɛt/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39"/>
            <a:ext cx="4754880" cy="100584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953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3F7FC"/>
                </a:solidFill>
                <a:latin typeface="Aptos"/>
              </a:defRPr>
            </a:pPr>
            <a:r>
              <a:t>ship    /ʃɪp/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4754880" cy="1005840"/>
          </a:xfrm>
          <a:prstGeom prst="roundRect">
            <a:avLst/>
          </a:prstGeom>
          <a:solidFill>
            <a:srgbClr val="0B2037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8953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3F7FC"/>
                </a:solidFill>
                <a:latin typeface="Aptos"/>
              </a:defRPr>
            </a:pPr>
            <a:r>
              <a:t>sheep    /ʃiːp/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5D8E5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3F7FC"/>
                </a:solidFill>
                <a:latin typeface="Aptos"/>
              </a:defRPr>
            </a:pPr>
            <a:r>
              <a:t>Acoustic analysis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10927080" cy="1371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A5B6C9"/>
                </a:solidFill>
                <a:latin typeface="Aptos"/>
              </a:defRPr>
            </a:pPr>
            <a:r>
              <a:t>LinguaSlides · Phonetic Waveform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7772400" cy="3291840"/>
          </a:xfrm>
          <a:prstGeom prst="rect">
            <a:avLst/>
          </a:prstGeom>
          <a:solidFill>
            <a:srgbClr val="0F2C46"/>
          </a:solidFill>
          <a:ln>
            <a:solidFill>
              <a:srgbClr val="A5B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611879"/>
            <a:ext cx="73152" cy="18288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71016" y="3052437"/>
            <a:ext cx="73152" cy="130176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2624651"/>
            <a:ext cx="73152" cy="215733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8488" y="2429193"/>
            <a:ext cx="73152" cy="254825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92224" y="2512062"/>
            <a:ext cx="73152" cy="238251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2853756"/>
            <a:ext cx="73152" cy="169912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39696" y="3373862"/>
            <a:ext cx="73152" cy="65891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3432" y="3273777"/>
            <a:ext cx="73152" cy="85908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2777224"/>
            <a:ext cx="73152" cy="185219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0904" y="2477094"/>
            <a:ext cx="73152" cy="245245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39" y="2444018"/>
            <a:ext cx="73152" cy="251860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08376" y="2685780"/>
            <a:ext cx="73152" cy="203507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82112" y="3145485"/>
            <a:ext cx="73152" cy="111566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55848" y="3508811"/>
            <a:ext cx="73152" cy="38901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9584" y="2963603"/>
            <a:ext cx="73152" cy="147943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570957"/>
            <a:ext cx="73152" cy="226472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77056" y="2423276"/>
            <a:ext cx="73152" cy="256008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50791" y="2555314"/>
            <a:ext cx="73152" cy="229601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24528" y="2935998"/>
            <a:ext cx="73152" cy="153464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8264" y="3475740"/>
            <a:ext cx="73152" cy="45515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176238"/>
            <a:ext cx="73152" cy="105416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45736" y="2706979"/>
            <a:ext cx="73152" cy="1992680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19472" y="2450674"/>
            <a:ext cx="73152" cy="250529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93208" y="2467640"/>
            <a:ext cx="73152" cy="247135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66944" y="2753885"/>
            <a:ext cx="73152" cy="189886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3242046"/>
            <a:ext cx="73152" cy="92254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14416" y="3406518"/>
            <a:ext cx="73152" cy="59360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88152" y="2879652"/>
            <a:ext cx="73152" cy="1647335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61888" y="2525104"/>
            <a:ext cx="73152" cy="2356431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35624" y="2426311"/>
            <a:ext cx="73152" cy="255401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606523"/>
            <a:ext cx="73152" cy="219359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83096" y="3023330"/>
            <a:ext cx="73152" cy="1359978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56832" y="3578643"/>
            <a:ext cx="73152" cy="249352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30568" y="3081981"/>
            <a:ext cx="73152" cy="124267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04304" y="2643550"/>
            <a:ext cx="73152" cy="211953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78040" y="2433000"/>
            <a:ext cx="73152" cy="2540639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51775" y="2499881"/>
            <a:ext cx="73152" cy="240687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25512" y="2828453"/>
            <a:ext cx="73152" cy="174973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99248" y="3341392"/>
            <a:ext cx="73152" cy="72385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72983" y="3305773"/>
            <a:ext cx="73152" cy="795093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19" y="2801216"/>
            <a:ext cx="73152" cy="180420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0456" y="2487436"/>
            <a:ext cx="73152" cy="2431767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256032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3F7FC"/>
                </a:solidFill>
                <a:latin typeface="Aptos"/>
              </a:defRPr>
            </a:pPr>
            <a:r>
              <a:t>F1 / F2</a:t>
            </a:r>
            <a:br/>
            <a:r>
              <a:t>Formant tracks</a:t>
            </a:r>
            <a:br/>
            <a:r>
              <a:t>Duration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623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A5B6C9"/>
                </a:solidFill>
                <a:latin typeface="Aptos"/>
              </a:defRPr>
            </a:pPr>
            <a:r>
              <a:t>Replace schematic waveform with measured data and labeled axes.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5D8E5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3F7FC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10927080" cy="1371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A5B6C9"/>
                </a:solidFill>
                <a:latin typeface="Aptos"/>
              </a:defRPr>
            </a:pPr>
            <a:r>
              <a:t>LinguaSlides · Phonetic Waveform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0058400" cy="749808"/>
          </a:xfrm>
          <a:prstGeom prst="roundRect">
            <a:avLst/>
          </a:prstGeom>
          <a:solidFill>
            <a:srgbClr val="0F2C46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55D8E5"/>
                </a:solidFill>
                <a:latin typeface="Aptos"/>
              </a:defRPr>
            </a:pPr>
            <a:r>
              <a:t>Vowel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F3F7FC"/>
                </a:solidFill>
                <a:latin typeface="Aptos"/>
              </a:defRPr>
            </a:pPr>
            <a:r>
              <a:t>Context-sensitive differences observed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63240"/>
            <a:ext cx="10058400" cy="749808"/>
          </a:xfrm>
          <a:prstGeom prst="roundRect">
            <a:avLst/>
          </a:prstGeom>
          <a:solidFill>
            <a:srgbClr val="0F2C46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00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55D8E5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004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F3F7FC"/>
                </a:solidFill>
                <a:latin typeface="Aptos"/>
              </a:defRPr>
            </a:pPr>
            <a:r>
              <a:t>Longer in selected stressed environments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10058400" cy="749808"/>
          </a:xfrm>
          <a:prstGeom prst="roundRect">
            <a:avLst/>
          </a:prstGeom>
          <a:solidFill>
            <a:srgbClr val="0F2C46"/>
          </a:solidFill>
          <a:ln>
            <a:solidFill>
              <a:srgbClr val="55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519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55D8E5"/>
                </a:solidFill>
                <a:latin typeface="Aptos"/>
              </a:defRPr>
            </a:pPr>
            <a:r>
              <a:t>Variation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519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F3F7FC"/>
                </a:solidFill>
                <a:latin typeface="Aptos"/>
              </a:defRPr>
            </a:pPr>
            <a:r>
              <a:t>Speaker and lexical effects require follow-up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5D8E5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3F7FC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10927080" cy="1371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A5B6C9"/>
                </a:solidFill>
                <a:latin typeface="Aptos"/>
              </a:defRPr>
            </a:pPr>
            <a:r>
              <a:t>LinguaSlides · Phonetic Waveform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3F7FC"/>
                </a:solidFill>
                <a:latin typeface="Aptos"/>
              </a:defRPr>
            </a:pPr>
            <a:r>
              <a:t>Interpret the acoustic evidence alongside phonological contrasts and social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A5B6C9"/>
                </a:solidFill>
                <a:latin typeface="Aptos"/>
              </a:defRPr>
            </a:pPr>
            <a:r>
              <a:t>Separate descriptive observations from causal claims. Report sample size, recording conditions, and uncertainty.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55D8E5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3F7FC"/>
                </a:solidFill>
                <a:latin typeface="Aptos"/>
              </a:defRPr>
            </a:pPr>
            <a:r>
              <a:t>References &amp; acknowledgements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10927080" cy="13716"/>
          </a:xfrm>
          <a:prstGeom prst="rect">
            <a:avLst/>
          </a:prstGeom>
          <a:solidFill>
            <a:srgbClr val="55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A5B6C9"/>
                </a:solidFill>
                <a:latin typeface="Aptos"/>
              </a:defRPr>
            </a:pPr>
            <a:r>
              <a:t>LinguaSlides · Phonetic Waveform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3F7FC"/>
                </a:solidFill>
                <a:latin typeface="Aptos"/>
              </a:defRPr>
            </a:pPr>
            <a:r>
              <a:t>Add verified references for acoustic phonetics, Southern English varieties, and the specific methods 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55D8E5"/>
                </a:solidFill>
                <a:latin typeface="Aptos"/>
              </a:defRPr>
            </a:pPr>
            <a:r>
              <a:t>Acknowledgements · Data availability ·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